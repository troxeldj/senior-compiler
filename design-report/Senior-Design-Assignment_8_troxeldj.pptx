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103" d="100"/>
          <a:sy n="103" d="100"/>
        </p:scale>
        <p:origin x="8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7F1C-1B04-DD65-90D3-DD1EE56757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BCFDCD-D483-CD89-D71A-F8235E8DCD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CB7F41-D79B-867F-8BEC-ABC9AB0C871E}"/>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5" name="Footer Placeholder 4">
            <a:extLst>
              <a:ext uri="{FF2B5EF4-FFF2-40B4-BE49-F238E27FC236}">
                <a16:creationId xmlns:a16="http://schemas.microsoft.com/office/drawing/2014/main" id="{AF9D952E-5123-E474-43AA-F9E9801D92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49DBD-B47E-AD54-75B9-1CD92531F499}"/>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3139014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F61E-CF57-8985-0D3D-46B427A492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044CF4-CD07-9C91-C0D2-EF6E5B6CD9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AB9FC-47D7-7C1E-276A-E3812C3F5D4E}"/>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5" name="Footer Placeholder 4">
            <a:extLst>
              <a:ext uri="{FF2B5EF4-FFF2-40B4-BE49-F238E27FC236}">
                <a16:creationId xmlns:a16="http://schemas.microsoft.com/office/drawing/2014/main" id="{36558B14-BE4D-6F2D-805A-62CA1496FE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DB77C-CE39-921F-A524-09828F19E027}"/>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3197575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6856E-5E20-2B65-DA8E-75B2B46340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F9F5B8-C839-296E-431C-4D6FFE0131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87A242-BC29-580F-6D91-75A1DDF5266E}"/>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5" name="Footer Placeholder 4">
            <a:extLst>
              <a:ext uri="{FF2B5EF4-FFF2-40B4-BE49-F238E27FC236}">
                <a16:creationId xmlns:a16="http://schemas.microsoft.com/office/drawing/2014/main" id="{67D8E01D-81A9-C12B-EC6C-76C777CA0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EBEFB-4B23-B79F-36AE-989E675E3CBF}"/>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1581214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4310E-9512-7E87-B1B5-25E15BD48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7ABC33-A1EE-DAF9-678E-CA5B136A27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03E819-F192-5785-805F-E3A269B5EF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1D1C5C-05D4-A960-BE41-73154CB58B32}"/>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6" name="Footer Placeholder 5">
            <a:extLst>
              <a:ext uri="{FF2B5EF4-FFF2-40B4-BE49-F238E27FC236}">
                <a16:creationId xmlns:a16="http://schemas.microsoft.com/office/drawing/2014/main" id="{0D0CB102-353D-5E8D-C02B-A86D7D7F3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CCFA21-08DF-DE72-B176-CF761F8CD326}"/>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224980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7226-A5D1-6287-D76B-AA11F0BE31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683DE1-D46C-89AF-04E8-A692A912F8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11D2C-502E-AF04-19A6-224A7F1797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9A9DBF-E02C-B73C-E337-9556698B10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ADCE82-FED4-B39A-0B34-B8210759D8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859176-C7E2-39D2-CA8A-D0E6300B526E}"/>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8" name="Footer Placeholder 7">
            <a:extLst>
              <a:ext uri="{FF2B5EF4-FFF2-40B4-BE49-F238E27FC236}">
                <a16:creationId xmlns:a16="http://schemas.microsoft.com/office/drawing/2014/main" id="{9D5FAAA6-3DDF-A027-1A8F-AFDB4BFEF6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D96E12-1A93-1AF6-19DC-6CCD384BED3D}"/>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134620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1FB21-0CB2-7615-81BC-BDB4B1C78B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0E220A-B5BF-58EF-0427-08CB3EFDBFC8}"/>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4" name="Footer Placeholder 3">
            <a:extLst>
              <a:ext uri="{FF2B5EF4-FFF2-40B4-BE49-F238E27FC236}">
                <a16:creationId xmlns:a16="http://schemas.microsoft.com/office/drawing/2014/main" id="{A34160F9-D023-25C2-203E-C49CB87456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DB68F1-047A-53FE-10B0-CC7E5800C1FA}"/>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1655505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29AD0-FDEB-2B28-2C6B-9A503B9EE65C}"/>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3" name="Footer Placeholder 2">
            <a:extLst>
              <a:ext uri="{FF2B5EF4-FFF2-40B4-BE49-F238E27FC236}">
                <a16:creationId xmlns:a16="http://schemas.microsoft.com/office/drawing/2014/main" id="{7057AFDF-10D9-6E51-092B-45D9F374D1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4C1D14-45F6-EB38-C325-F5290AA688CB}"/>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3446508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512F4-3E8D-4AC6-7A81-488A7A3128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382A8E-18AE-92B6-2487-64D8BFC24C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FC5359-C84F-F0C4-91E4-BB862EC78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066257-B139-B7DC-4639-F7E88FEA71D7}"/>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6" name="Footer Placeholder 5">
            <a:extLst>
              <a:ext uri="{FF2B5EF4-FFF2-40B4-BE49-F238E27FC236}">
                <a16:creationId xmlns:a16="http://schemas.microsoft.com/office/drawing/2014/main" id="{3A3DB82A-3612-F865-52E2-1017ACB8C1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91D59-495A-E3EC-722E-1DEC0835A708}"/>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3790986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08F54-93F6-0E10-4164-9C8FAABABB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4BC170-EBC8-2BE6-520E-4BFB8163D1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BF2D1F-5452-3D09-6521-01E1384AD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B8FE8-3791-FDE6-E4B0-8506D141984A}"/>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6" name="Footer Placeholder 5">
            <a:extLst>
              <a:ext uri="{FF2B5EF4-FFF2-40B4-BE49-F238E27FC236}">
                <a16:creationId xmlns:a16="http://schemas.microsoft.com/office/drawing/2014/main" id="{9D5CC7D0-D734-5301-324F-E85C3D7795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605D6F-FD5D-E9BE-29BA-D6BDB1EAC3C0}"/>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13158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5ABA8-8B79-F7BB-E403-1EEB955789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3DC450-286B-F765-E5A7-415C78B6B6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23939A-2EA9-052B-D3E1-26D258471C18}"/>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5" name="Footer Placeholder 4">
            <a:extLst>
              <a:ext uri="{FF2B5EF4-FFF2-40B4-BE49-F238E27FC236}">
                <a16:creationId xmlns:a16="http://schemas.microsoft.com/office/drawing/2014/main" id="{8D56AC7F-262F-67DE-8541-7678D94C0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1C301-EE8E-8AF6-4B47-FCB9642F3223}"/>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217142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AA117-4746-775D-8B1F-56BF7708F2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404E4D-120F-363D-677A-4410D3B1B0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F126E5-93A6-F724-4A43-57AA7ED16365}"/>
              </a:ext>
            </a:extLst>
          </p:cNvPr>
          <p:cNvSpPr>
            <a:spLocks noGrp="1"/>
          </p:cNvSpPr>
          <p:nvPr>
            <p:ph type="dt" sz="half" idx="10"/>
          </p:nvPr>
        </p:nvSpPr>
        <p:spPr/>
        <p:txBody>
          <a:bodyPr/>
          <a:lstStyle/>
          <a:p>
            <a:fld id="{7910FDB4-BAB8-46C7-99B2-DC90004D5B9E}" type="datetimeFigureOut">
              <a:rPr lang="en-US" smtClean="0"/>
              <a:t>10/27/2024</a:t>
            </a:fld>
            <a:endParaRPr lang="en-US"/>
          </a:p>
        </p:txBody>
      </p:sp>
      <p:sp>
        <p:nvSpPr>
          <p:cNvPr id="5" name="Footer Placeholder 4">
            <a:extLst>
              <a:ext uri="{FF2B5EF4-FFF2-40B4-BE49-F238E27FC236}">
                <a16:creationId xmlns:a16="http://schemas.microsoft.com/office/drawing/2014/main" id="{DF31523C-4BDF-5CCA-C6F2-788E50F95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950FE-C42B-E97E-486F-6C7CAC052CF3}"/>
              </a:ext>
            </a:extLst>
          </p:cNvPr>
          <p:cNvSpPr>
            <a:spLocks noGrp="1"/>
          </p:cNvSpPr>
          <p:nvPr>
            <p:ph type="sldNum" sz="quarter" idx="12"/>
          </p:nvPr>
        </p:nvSpPr>
        <p:spPr/>
        <p:txBody>
          <a:bodyPr/>
          <a:lstStyle/>
          <a:p>
            <a:fld id="{B1AA4AC4-EA06-4E7B-BD3D-5CAB17F63F95}" type="slidenum">
              <a:rPr lang="en-US" smtClean="0"/>
              <a:t>‹#›</a:t>
            </a:fld>
            <a:endParaRPr lang="en-US"/>
          </a:p>
        </p:txBody>
      </p:sp>
    </p:spTree>
    <p:extLst>
      <p:ext uri="{BB962C8B-B14F-4D97-AF65-F5344CB8AC3E}">
        <p14:creationId xmlns:p14="http://schemas.microsoft.com/office/powerpoint/2010/main" val="2978313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2471B1-8637-AD87-DE02-FB5B58035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AF958F-3742-6BE0-B083-2B37813E3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9E98A-5506-AFAA-570A-9A978CC70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10FDB4-BAB8-46C7-99B2-DC90004D5B9E}" type="datetimeFigureOut">
              <a:rPr lang="en-US" smtClean="0"/>
              <a:t>10/27/2024</a:t>
            </a:fld>
            <a:endParaRPr lang="en-US"/>
          </a:p>
        </p:txBody>
      </p:sp>
      <p:sp>
        <p:nvSpPr>
          <p:cNvPr id="5" name="Footer Placeholder 4">
            <a:extLst>
              <a:ext uri="{FF2B5EF4-FFF2-40B4-BE49-F238E27FC236}">
                <a16:creationId xmlns:a16="http://schemas.microsoft.com/office/drawing/2014/main" id="{592156DC-2CFF-11C1-90EF-F13C45AB0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6709C5-5644-5E04-660F-5BB7E3CE3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AA4AC4-EA06-4E7B-BD3D-5CAB17F63F95}" type="slidenum">
              <a:rPr lang="en-US" smtClean="0"/>
              <a:t>‹#›</a:t>
            </a:fld>
            <a:endParaRPr lang="en-US"/>
          </a:p>
        </p:txBody>
      </p:sp>
    </p:spTree>
    <p:extLst>
      <p:ext uri="{BB962C8B-B14F-4D97-AF65-F5344CB8AC3E}">
        <p14:creationId xmlns:p14="http://schemas.microsoft.com/office/powerpoint/2010/main" val="2825886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roxeldj@mail.uc.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troxeldj@mail.uc.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troxeldj/senior-compile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897C8-F92A-2AD1-2A29-5A6006CFF9FD}"/>
              </a:ext>
            </a:extLst>
          </p:cNvPr>
          <p:cNvSpPr>
            <a:spLocks noGrp="1"/>
          </p:cNvSpPr>
          <p:nvPr>
            <p:ph type="ctrTitle"/>
          </p:nvPr>
        </p:nvSpPr>
        <p:spPr/>
        <p:txBody>
          <a:bodyPr/>
          <a:lstStyle/>
          <a:p>
            <a:r>
              <a:rPr lang="en-US" dirty="0"/>
              <a:t>Senior Compiler</a:t>
            </a:r>
          </a:p>
        </p:txBody>
      </p:sp>
      <p:sp>
        <p:nvSpPr>
          <p:cNvPr id="3" name="Subtitle 2">
            <a:extLst>
              <a:ext uri="{FF2B5EF4-FFF2-40B4-BE49-F238E27FC236}">
                <a16:creationId xmlns:a16="http://schemas.microsoft.com/office/drawing/2014/main" id="{45D3D482-5014-50B6-6287-F888C7BFB83D}"/>
              </a:ext>
            </a:extLst>
          </p:cNvPr>
          <p:cNvSpPr>
            <a:spLocks noGrp="1"/>
          </p:cNvSpPr>
          <p:nvPr>
            <p:ph type="subTitle" idx="1"/>
          </p:nvPr>
        </p:nvSpPr>
        <p:spPr/>
        <p:txBody>
          <a:bodyPr/>
          <a:lstStyle/>
          <a:p>
            <a:r>
              <a:rPr lang="en-US" dirty="0"/>
              <a:t>Team: Midnight Squad</a:t>
            </a:r>
          </a:p>
          <a:p>
            <a:r>
              <a:rPr lang="en-US" dirty="0"/>
              <a:t>Dillon Troxell (</a:t>
            </a:r>
            <a:r>
              <a:rPr lang="en-US" dirty="0">
                <a:hlinkClick r:id="rId2"/>
              </a:rPr>
              <a:t>troxeldj@mail.uc.edu</a:t>
            </a:r>
            <a:r>
              <a:rPr lang="en-US" dirty="0"/>
              <a:t>)</a:t>
            </a:r>
          </a:p>
        </p:txBody>
      </p:sp>
    </p:spTree>
    <p:extLst>
      <p:ext uri="{BB962C8B-B14F-4D97-AF65-F5344CB8AC3E}">
        <p14:creationId xmlns:p14="http://schemas.microsoft.com/office/powerpoint/2010/main" val="1402329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8FE7-310A-C55B-57E8-5407E2FE4C76}"/>
              </a:ext>
            </a:extLst>
          </p:cNvPr>
          <p:cNvSpPr>
            <a:spLocks noGrp="1"/>
          </p:cNvSpPr>
          <p:nvPr>
            <p:ph type="title"/>
          </p:nvPr>
        </p:nvSpPr>
        <p:spPr/>
        <p:txBody>
          <a:bodyPr/>
          <a:lstStyle/>
          <a:p>
            <a:r>
              <a:rPr lang="en-US" dirty="0"/>
              <a:t>Group Info</a:t>
            </a:r>
          </a:p>
        </p:txBody>
      </p:sp>
      <p:sp>
        <p:nvSpPr>
          <p:cNvPr id="3" name="Content Placeholder 2">
            <a:extLst>
              <a:ext uri="{FF2B5EF4-FFF2-40B4-BE49-F238E27FC236}">
                <a16:creationId xmlns:a16="http://schemas.microsoft.com/office/drawing/2014/main" id="{D8F2CD7F-57B9-A3C1-2839-B38D87227375}"/>
              </a:ext>
            </a:extLst>
          </p:cNvPr>
          <p:cNvSpPr>
            <a:spLocks noGrp="1"/>
          </p:cNvSpPr>
          <p:nvPr>
            <p:ph idx="1"/>
          </p:nvPr>
        </p:nvSpPr>
        <p:spPr/>
        <p:txBody>
          <a:bodyPr/>
          <a:lstStyle/>
          <a:p>
            <a:r>
              <a:rPr lang="en-US" dirty="0"/>
              <a:t>Team Name: Midnight Squad</a:t>
            </a:r>
          </a:p>
          <a:p>
            <a:r>
              <a:rPr lang="en-US" dirty="0"/>
              <a:t>Team Members:</a:t>
            </a:r>
          </a:p>
          <a:p>
            <a:pPr lvl="1"/>
            <a:r>
              <a:rPr lang="en-US" dirty="0"/>
              <a:t>Dillon Troxell (</a:t>
            </a:r>
            <a:r>
              <a:rPr lang="en-US" dirty="0">
                <a:hlinkClick r:id="rId2"/>
              </a:rPr>
              <a:t>troxeldj@mail.uc.edu</a:t>
            </a:r>
            <a:r>
              <a:rPr lang="en-US" dirty="0"/>
              <a:t>)</a:t>
            </a:r>
          </a:p>
        </p:txBody>
      </p:sp>
    </p:spTree>
    <p:extLst>
      <p:ext uri="{BB962C8B-B14F-4D97-AF65-F5344CB8AC3E}">
        <p14:creationId xmlns:p14="http://schemas.microsoft.com/office/powerpoint/2010/main" val="1059904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EEA36-D450-7521-D1FA-F80D98F692BC}"/>
              </a:ext>
            </a:extLst>
          </p:cNvPr>
          <p:cNvSpPr>
            <a:spLocks noGrp="1"/>
          </p:cNvSpPr>
          <p:nvPr>
            <p:ph type="title"/>
          </p:nvPr>
        </p:nvSpPr>
        <p:spPr/>
        <p:txBody>
          <a:bodyPr/>
          <a:lstStyle/>
          <a:p>
            <a:r>
              <a:rPr lang="en-US" dirty="0"/>
              <a:t>Purpose and Goal Statement</a:t>
            </a:r>
          </a:p>
        </p:txBody>
      </p:sp>
      <p:sp>
        <p:nvSpPr>
          <p:cNvPr id="3" name="Content Placeholder 2">
            <a:extLst>
              <a:ext uri="{FF2B5EF4-FFF2-40B4-BE49-F238E27FC236}">
                <a16:creationId xmlns:a16="http://schemas.microsoft.com/office/drawing/2014/main" id="{3B141DC9-14AE-3525-480B-3BBE976C2E81}"/>
              </a:ext>
            </a:extLst>
          </p:cNvPr>
          <p:cNvSpPr>
            <a:spLocks noGrp="1"/>
          </p:cNvSpPr>
          <p:nvPr>
            <p:ph idx="1"/>
          </p:nvPr>
        </p:nvSpPr>
        <p:spPr/>
        <p:txBody>
          <a:bodyPr>
            <a:normAutofit lnSpcReduction="10000"/>
          </a:bodyPr>
          <a:lstStyle/>
          <a:p>
            <a:r>
              <a:rPr lang="en-US" dirty="0"/>
              <a:t>Purpose: The purpose of this project is to design and implement a compiler from scratch that can generate assembly code for a custom programming language. This compiler will implement a </a:t>
            </a:r>
            <a:r>
              <a:rPr lang="en-US" dirty="0" err="1"/>
              <a:t>lexer</a:t>
            </a:r>
            <a:r>
              <a:rPr lang="en-US" dirty="0"/>
              <a:t>, parser, and code generator that encompasses the entire compilation pipeline</a:t>
            </a:r>
          </a:p>
          <a:p>
            <a:endParaRPr lang="en-US" dirty="0"/>
          </a:p>
          <a:p>
            <a:r>
              <a:rPr lang="en-US" dirty="0"/>
              <a:t>Goal Statement: The goal of this project is to deliver a fully functional compiler that can lex, parse, and generate assembly code for a custom programming language. Users should be able to write code in a high-level language and it should compile down to assembly code</a:t>
            </a:r>
          </a:p>
        </p:txBody>
      </p:sp>
    </p:spTree>
    <p:extLst>
      <p:ext uri="{BB962C8B-B14F-4D97-AF65-F5344CB8AC3E}">
        <p14:creationId xmlns:p14="http://schemas.microsoft.com/office/powerpoint/2010/main" val="566577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9A6AC-B15B-A1AB-56F6-F63C7F675D28}"/>
              </a:ext>
            </a:extLst>
          </p:cNvPr>
          <p:cNvSpPr>
            <a:spLocks noGrp="1"/>
          </p:cNvSpPr>
          <p:nvPr>
            <p:ph type="title"/>
          </p:nvPr>
        </p:nvSpPr>
        <p:spPr/>
        <p:txBody>
          <a:bodyPr/>
          <a:lstStyle/>
          <a:p>
            <a:r>
              <a:rPr lang="en-US" dirty="0"/>
              <a:t>Project Abstraction</a:t>
            </a:r>
          </a:p>
        </p:txBody>
      </p:sp>
      <p:sp>
        <p:nvSpPr>
          <p:cNvPr id="3" name="Content Placeholder 2">
            <a:extLst>
              <a:ext uri="{FF2B5EF4-FFF2-40B4-BE49-F238E27FC236}">
                <a16:creationId xmlns:a16="http://schemas.microsoft.com/office/drawing/2014/main" id="{7B9AF0A2-A5EC-3B21-D8E6-C4D5CC8F7E46}"/>
              </a:ext>
            </a:extLst>
          </p:cNvPr>
          <p:cNvSpPr>
            <a:spLocks noGrp="1"/>
          </p:cNvSpPr>
          <p:nvPr>
            <p:ph idx="1"/>
          </p:nvPr>
        </p:nvSpPr>
        <p:spPr/>
        <p:txBody>
          <a:bodyPr/>
          <a:lstStyle/>
          <a:p>
            <a:r>
              <a:rPr lang="en-US" dirty="0"/>
              <a:t>The project involves creating a compiler for a custom programming language. The project will implement core components such as a </a:t>
            </a:r>
            <a:r>
              <a:rPr lang="en-US" b="1" dirty="0" err="1"/>
              <a:t>lexer</a:t>
            </a:r>
            <a:r>
              <a:rPr lang="en-US" b="1" dirty="0"/>
              <a:t>, parser</a:t>
            </a:r>
            <a:r>
              <a:rPr lang="en-US" dirty="0"/>
              <a:t>, and </a:t>
            </a:r>
            <a:r>
              <a:rPr lang="en-US" b="1" dirty="0"/>
              <a:t>code generator</a:t>
            </a:r>
            <a:r>
              <a:rPr lang="en-US" dirty="0"/>
              <a:t>. The compiler first processes source code by </a:t>
            </a:r>
            <a:r>
              <a:rPr lang="en-US" b="1" dirty="0" err="1"/>
              <a:t>lexing</a:t>
            </a:r>
            <a:r>
              <a:rPr lang="en-US" b="1" dirty="0"/>
              <a:t> this code into “tokens”</a:t>
            </a:r>
            <a:r>
              <a:rPr lang="en-US" dirty="0"/>
              <a:t>. From here, we use the order and type of these tokens to generate statements that we fit to a language grammar. Once we have our </a:t>
            </a:r>
            <a:r>
              <a:rPr lang="en-US" b="1" dirty="0"/>
              <a:t>AST (abstract syntax tree) from the parser</a:t>
            </a:r>
            <a:r>
              <a:rPr lang="en-US" dirty="0"/>
              <a:t>, we use another component called a </a:t>
            </a:r>
            <a:r>
              <a:rPr lang="en-US" b="1" dirty="0"/>
              <a:t>code Generator to traverse this parse tree and generate assembly code that can be run on x86/x64 machines</a:t>
            </a:r>
            <a:r>
              <a:rPr lang="en-US" dirty="0"/>
              <a:t>. Our language will include: functions, variables, and mathematical expressions.</a:t>
            </a:r>
          </a:p>
        </p:txBody>
      </p:sp>
    </p:spTree>
    <p:extLst>
      <p:ext uri="{BB962C8B-B14F-4D97-AF65-F5344CB8AC3E}">
        <p14:creationId xmlns:p14="http://schemas.microsoft.com/office/powerpoint/2010/main" val="3680292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7886-CC79-E677-3896-139F1FAA83B7}"/>
              </a:ext>
            </a:extLst>
          </p:cNvPr>
          <p:cNvSpPr>
            <a:spLocks noGrp="1"/>
          </p:cNvSpPr>
          <p:nvPr>
            <p:ph type="title"/>
          </p:nvPr>
        </p:nvSpPr>
        <p:spPr/>
        <p:txBody>
          <a:bodyPr/>
          <a:lstStyle/>
          <a:p>
            <a:r>
              <a:rPr lang="en-US" dirty="0"/>
              <a:t>User Stories</a:t>
            </a:r>
          </a:p>
        </p:txBody>
      </p:sp>
      <p:sp>
        <p:nvSpPr>
          <p:cNvPr id="3" name="Content Placeholder 2">
            <a:extLst>
              <a:ext uri="{FF2B5EF4-FFF2-40B4-BE49-F238E27FC236}">
                <a16:creationId xmlns:a16="http://schemas.microsoft.com/office/drawing/2014/main" id="{9329E361-63AD-F942-103C-E77EA9176A7E}"/>
              </a:ext>
            </a:extLst>
          </p:cNvPr>
          <p:cNvSpPr>
            <a:spLocks noGrp="1"/>
          </p:cNvSpPr>
          <p:nvPr>
            <p:ph idx="1"/>
          </p:nvPr>
        </p:nvSpPr>
        <p:spPr/>
        <p:txBody>
          <a:bodyPr/>
          <a:lstStyle/>
          <a:p>
            <a:r>
              <a:rPr lang="en-US" dirty="0"/>
              <a:t>As a user, I want my source code to compile into x86/x64 assembly so that I can link, load, and execute my code. </a:t>
            </a:r>
          </a:p>
          <a:p>
            <a:endParaRPr lang="en-US" dirty="0"/>
          </a:p>
          <a:p>
            <a:r>
              <a:rPr lang="en-US" dirty="0"/>
              <a:t>As a user, I want the compiler to generate detailed error messages so that I can easily debug issues with my code.</a:t>
            </a:r>
          </a:p>
          <a:p>
            <a:endParaRPr lang="en-US" dirty="0"/>
          </a:p>
          <a:p>
            <a:r>
              <a:rPr lang="en-US" dirty="0"/>
              <a:t>As a developer, I want the </a:t>
            </a:r>
            <a:r>
              <a:rPr lang="en-US" dirty="0" err="1"/>
              <a:t>the</a:t>
            </a:r>
            <a:r>
              <a:rPr lang="en-US" dirty="0"/>
              <a:t> compiler to handle variable declarations so that users can perform operations on variable data.  </a:t>
            </a:r>
          </a:p>
        </p:txBody>
      </p:sp>
    </p:spTree>
    <p:extLst>
      <p:ext uri="{BB962C8B-B14F-4D97-AF65-F5344CB8AC3E}">
        <p14:creationId xmlns:p14="http://schemas.microsoft.com/office/powerpoint/2010/main" val="2975395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AE8A0-3556-3322-2FA4-D4702F1C59C8}"/>
              </a:ext>
            </a:extLst>
          </p:cNvPr>
          <p:cNvSpPr>
            <a:spLocks noGrp="1"/>
          </p:cNvSpPr>
          <p:nvPr>
            <p:ph type="title"/>
          </p:nvPr>
        </p:nvSpPr>
        <p:spPr/>
        <p:txBody>
          <a:bodyPr/>
          <a:lstStyle/>
          <a:p>
            <a:r>
              <a:rPr lang="en-US" dirty="0"/>
              <a:t>Design Diagrams (1/2)</a:t>
            </a:r>
          </a:p>
        </p:txBody>
      </p:sp>
      <p:pic>
        <p:nvPicPr>
          <p:cNvPr id="5" name="Content Placeholder 4" descr="A black arrow pointing to a rectangular object&#10;&#10;Description automatically generated">
            <a:extLst>
              <a:ext uri="{FF2B5EF4-FFF2-40B4-BE49-F238E27FC236}">
                <a16:creationId xmlns:a16="http://schemas.microsoft.com/office/drawing/2014/main" id="{07AB2E5D-D832-EBA9-5B64-382DE04DDD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90750"/>
            <a:ext cx="4752975" cy="1238250"/>
          </a:xfrm>
        </p:spPr>
      </p:pic>
      <p:sp>
        <p:nvSpPr>
          <p:cNvPr id="6" name="TextBox 5">
            <a:extLst>
              <a:ext uri="{FF2B5EF4-FFF2-40B4-BE49-F238E27FC236}">
                <a16:creationId xmlns:a16="http://schemas.microsoft.com/office/drawing/2014/main" id="{F347E7E5-FCC6-6812-5AA3-E2E6B2264F85}"/>
              </a:ext>
            </a:extLst>
          </p:cNvPr>
          <p:cNvSpPr txBox="1"/>
          <p:nvPr/>
        </p:nvSpPr>
        <p:spPr>
          <a:xfrm>
            <a:off x="838200" y="1571387"/>
            <a:ext cx="2636106" cy="369332"/>
          </a:xfrm>
          <a:prstGeom prst="rect">
            <a:avLst/>
          </a:prstGeom>
          <a:noFill/>
        </p:spPr>
        <p:txBody>
          <a:bodyPr wrap="none" rtlCol="0">
            <a:spAutoFit/>
          </a:bodyPr>
          <a:lstStyle/>
          <a:p>
            <a:r>
              <a:rPr lang="en-US" dirty="0"/>
              <a:t>Compiler Basic Function</a:t>
            </a:r>
          </a:p>
        </p:txBody>
      </p:sp>
      <p:pic>
        <p:nvPicPr>
          <p:cNvPr id="8" name="Picture 7" descr="A diagram of code generation&#10;&#10;Description automatically generated">
            <a:extLst>
              <a:ext uri="{FF2B5EF4-FFF2-40B4-BE49-F238E27FC236}">
                <a16:creationId xmlns:a16="http://schemas.microsoft.com/office/drawing/2014/main" id="{E12E2361-2CDA-5BAC-D6B5-1182F42D9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2190750"/>
            <a:ext cx="5486400" cy="4564260"/>
          </a:xfrm>
          <a:prstGeom prst="rect">
            <a:avLst/>
          </a:prstGeom>
        </p:spPr>
      </p:pic>
      <p:sp>
        <p:nvSpPr>
          <p:cNvPr id="9" name="TextBox 8">
            <a:extLst>
              <a:ext uri="{FF2B5EF4-FFF2-40B4-BE49-F238E27FC236}">
                <a16:creationId xmlns:a16="http://schemas.microsoft.com/office/drawing/2014/main" id="{BE71C333-3820-7A67-1D07-1EDB2977021F}"/>
              </a:ext>
            </a:extLst>
          </p:cNvPr>
          <p:cNvSpPr txBox="1"/>
          <p:nvPr/>
        </p:nvSpPr>
        <p:spPr>
          <a:xfrm>
            <a:off x="6248400" y="1446372"/>
            <a:ext cx="2716000" cy="369332"/>
          </a:xfrm>
          <a:prstGeom prst="rect">
            <a:avLst/>
          </a:prstGeom>
          <a:noFill/>
        </p:spPr>
        <p:txBody>
          <a:bodyPr wrap="none" rtlCol="0">
            <a:spAutoFit/>
          </a:bodyPr>
          <a:lstStyle/>
          <a:p>
            <a:r>
              <a:rPr lang="en-US" dirty="0"/>
              <a:t>Compiler Stages Diagram</a:t>
            </a:r>
          </a:p>
        </p:txBody>
      </p:sp>
    </p:spTree>
    <p:extLst>
      <p:ext uri="{BB962C8B-B14F-4D97-AF65-F5344CB8AC3E}">
        <p14:creationId xmlns:p14="http://schemas.microsoft.com/office/powerpoint/2010/main" val="1936049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A6E0-A83D-D039-A5CC-467F90987931}"/>
              </a:ext>
            </a:extLst>
          </p:cNvPr>
          <p:cNvSpPr>
            <a:spLocks noGrp="1"/>
          </p:cNvSpPr>
          <p:nvPr>
            <p:ph type="title"/>
          </p:nvPr>
        </p:nvSpPr>
        <p:spPr/>
        <p:txBody>
          <a:bodyPr/>
          <a:lstStyle/>
          <a:p>
            <a:r>
              <a:rPr lang="en-US" dirty="0"/>
              <a:t>Design Diagrams (2/2)</a:t>
            </a:r>
          </a:p>
        </p:txBody>
      </p:sp>
      <p:pic>
        <p:nvPicPr>
          <p:cNvPr id="5" name="Content Placeholder 4" descr="A diagram of a computer&#10;&#10;Description automatically generated">
            <a:extLst>
              <a:ext uri="{FF2B5EF4-FFF2-40B4-BE49-F238E27FC236}">
                <a16:creationId xmlns:a16="http://schemas.microsoft.com/office/drawing/2014/main" id="{BB8E6062-D5A7-6975-1252-904E59A0B0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18041" y="217711"/>
            <a:ext cx="4979437" cy="6422578"/>
          </a:xfrm>
        </p:spPr>
      </p:pic>
      <p:sp>
        <p:nvSpPr>
          <p:cNvPr id="6" name="TextBox 5">
            <a:extLst>
              <a:ext uri="{FF2B5EF4-FFF2-40B4-BE49-F238E27FC236}">
                <a16:creationId xmlns:a16="http://schemas.microsoft.com/office/drawing/2014/main" id="{58879E39-7721-FBFA-92BE-0317AF7A6C63}"/>
              </a:ext>
            </a:extLst>
          </p:cNvPr>
          <p:cNvSpPr txBox="1"/>
          <p:nvPr/>
        </p:nvSpPr>
        <p:spPr>
          <a:xfrm>
            <a:off x="391886" y="1520890"/>
            <a:ext cx="5850294" cy="5078313"/>
          </a:xfrm>
          <a:prstGeom prst="rect">
            <a:avLst/>
          </a:prstGeom>
          <a:noFill/>
        </p:spPr>
        <p:txBody>
          <a:bodyPr wrap="square" rtlCol="0">
            <a:spAutoFit/>
          </a:bodyPr>
          <a:lstStyle/>
          <a:p>
            <a:r>
              <a:rPr lang="en-US" dirty="0"/>
              <a:t>Here, we can see a number of classes that make up the compiler.</a:t>
            </a:r>
          </a:p>
          <a:p>
            <a:endParaRPr lang="en-US" dirty="0"/>
          </a:p>
          <a:p>
            <a:r>
              <a:rPr lang="en-US" dirty="0"/>
              <a:t>Token: Class to represent a token. Has a token type and an std::any (data).</a:t>
            </a:r>
          </a:p>
          <a:p>
            <a:endParaRPr lang="en-US" dirty="0"/>
          </a:p>
          <a:p>
            <a:r>
              <a:rPr lang="en-US" dirty="0" err="1"/>
              <a:t>Lexer</a:t>
            </a:r>
            <a:r>
              <a:rPr lang="en-US" dirty="0"/>
              <a:t>: Class to take source code and generate a list (std::vector&lt;Token&gt;) of tokens</a:t>
            </a:r>
          </a:p>
          <a:p>
            <a:endParaRPr lang="en-US" dirty="0"/>
          </a:p>
          <a:p>
            <a:r>
              <a:rPr lang="en-US" dirty="0"/>
              <a:t>Parser: Class to take in list of tokens from </a:t>
            </a:r>
            <a:r>
              <a:rPr lang="en-US" dirty="0" err="1"/>
              <a:t>lexer</a:t>
            </a:r>
            <a:r>
              <a:rPr lang="en-US" dirty="0"/>
              <a:t> and generate an AST (returns AST)</a:t>
            </a:r>
          </a:p>
          <a:p>
            <a:endParaRPr lang="en-US" dirty="0"/>
          </a:p>
          <a:p>
            <a:r>
              <a:rPr lang="en-US" dirty="0"/>
              <a:t>Expr: Base class for expressions (used in parser)</a:t>
            </a:r>
          </a:p>
          <a:p>
            <a:pPr marL="285750" indent="-285750">
              <a:buFontTx/>
              <a:buChar char="-"/>
            </a:pPr>
            <a:r>
              <a:rPr lang="en-US" dirty="0" err="1"/>
              <a:t>UnaryExpr</a:t>
            </a:r>
            <a:r>
              <a:rPr lang="en-US" dirty="0"/>
              <a:t> (Derived/Child class)</a:t>
            </a:r>
          </a:p>
          <a:p>
            <a:pPr marL="285750" indent="-285750">
              <a:buFontTx/>
              <a:buChar char="-"/>
            </a:pPr>
            <a:r>
              <a:rPr lang="en-US" dirty="0" err="1"/>
              <a:t>BinaryExpr</a:t>
            </a:r>
            <a:r>
              <a:rPr lang="en-US" dirty="0"/>
              <a:t> (Derived/Child class)</a:t>
            </a:r>
          </a:p>
          <a:p>
            <a:pPr marL="285750" indent="-285750">
              <a:buFontTx/>
              <a:buChar char="-"/>
            </a:pPr>
            <a:r>
              <a:rPr lang="en-US" dirty="0"/>
              <a:t>Literal (Derived/Child class)</a:t>
            </a:r>
          </a:p>
          <a:p>
            <a:pPr marL="285750" indent="-285750">
              <a:buFontTx/>
              <a:buChar char="-"/>
            </a:pPr>
            <a:endParaRPr lang="en-US" dirty="0"/>
          </a:p>
          <a:p>
            <a:r>
              <a:rPr lang="en-US" dirty="0"/>
              <a:t>Generator: Class to take in AST and “Generate” ASM</a:t>
            </a:r>
          </a:p>
        </p:txBody>
      </p:sp>
    </p:spTree>
    <p:extLst>
      <p:ext uri="{BB962C8B-B14F-4D97-AF65-F5344CB8AC3E}">
        <p14:creationId xmlns:p14="http://schemas.microsoft.com/office/powerpoint/2010/main" val="572101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BF87-08BC-33AC-6FE4-A91BB7795B53}"/>
              </a:ext>
            </a:extLst>
          </p:cNvPr>
          <p:cNvSpPr>
            <a:spLocks noGrp="1"/>
          </p:cNvSpPr>
          <p:nvPr>
            <p:ph type="title"/>
          </p:nvPr>
        </p:nvSpPr>
        <p:spPr/>
        <p:txBody>
          <a:bodyPr/>
          <a:lstStyle/>
          <a:p>
            <a:r>
              <a:rPr lang="en-US" dirty="0"/>
              <a:t>Major Project Constraints</a:t>
            </a:r>
          </a:p>
        </p:txBody>
      </p:sp>
      <p:sp>
        <p:nvSpPr>
          <p:cNvPr id="3" name="Content Placeholder 2">
            <a:extLst>
              <a:ext uri="{FF2B5EF4-FFF2-40B4-BE49-F238E27FC236}">
                <a16:creationId xmlns:a16="http://schemas.microsoft.com/office/drawing/2014/main" id="{56F6682F-5601-B7E8-538D-5B1D5671ADB6}"/>
              </a:ext>
            </a:extLst>
          </p:cNvPr>
          <p:cNvSpPr>
            <a:spLocks noGrp="1"/>
          </p:cNvSpPr>
          <p:nvPr>
            <p:ph idx="1"/>
          </p:nvPr>
        </p:nvSpPr>
        <p:spPr/>
        <p:txBody>
          <a:bodyPr>
            <a:normAutofit fontScale="85000" lnSpcReduction="20000"/>
          </a:bodyPr>
          <a:lstStyle/>
          <a:p>
            <a:r>
              <a:rPr lang="en-US" dirty="0"/>
              <a:t>Security (User Input): The compiler needs to be safe. All sensitive user information must be secure to ensure safety of users.</a:t>
            </a:r>
          </a:p>
          <a:p>
            <a:r>
              <a:rPr lang="en-US" dirty="0"/>
              <a:t>Accessibility: Our compiler needs to be easy to use and produce good debugging information. This ensures that the compiler is user-friendly and can be used by the widest audience.</a:t>
            </a:r>
          </a:p>
          <a:p>
            <a:r>
              <a:rPr lang="en-US" dirty="0"/>
              <a:t>Legal: There is a lot of tooling in the compiler space. Any use of open-source software needs to abide by the license that accompanies this software to stay in good legal standing.</a:t>
            </a:r>
          </a:p>
          <a:p>
            <a:r>
              <a:rPr lang="en-US" dirty="0"/>
              <a:t>Safety and Security: Transmission between user and the machine needs to be secure. Our compiler should be able to handle malicious user input and process (or ignore) the input safely. We also need to keep in mind memory safety (as we are using C++). We can use modern C++ features such as smart pointers and std::variant to keep memory safe and close attack vectors (buffer overflow, etc.)</a:t>
            </a:r>
          </a:p>
        </p:txBody>
      </p:sp>
    </p:spTree>
    <p:extLst>
      <p:ext uri="{BB962C8B-B14F-4D97-AF65-F5344CB8AC3E}">
        <p14:creationId xmlns:p14="http://schemas.microsoft.com/office/powerpoint/2010/main" val="3094329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BBA0B-8D63-CC39-0DCE-0F18F9CAFA67}"/>
              </a:ext>
            </a:extLst>
          </p:cNvPr>
          <p:cNvSpPr>
            <a:spLocks noGrp="1"/>
          </p:cNvSpPr>
          <p:nvPr>
            <p:ph type="title"/>
          </p:nvPr>
        </p:nvSpPr>
        <p:spPr/>
        <p:txBody>
          <a:bodyPr/>
          <a:lstStyle/>
          <a:p>
            <a:r>
              <a:rPr lang="en-US" dirty="0"/>
              <a:t>Project Progress</a:t>
            </a:r>
          </a:p>
        </p:txBody>
      </p:sp>
      <p:sp>
        <p:nvSpPr>
          <p:cNvPr id="3" name="Content Placeholder 2">
            <a:extLst>
              <a:ext uri="{FF2B5EF4-FFF2-40B4-BE49-F238E27FC236}">
                <a16:creationId xmlns:a16="http://schemas.microsoft.com/office/drawing/2014/main" id="{D858892A-7EEB-4CEA-8493-A8216BDE1B96}"/>
              </a:ext>
            </a:extLst>
          </p:cNvPr>
          <p:cNvSpPr>
            <a:spLocks noGrp="1"/>
          </p:cNvSpPr>
          <p:nvPr>
            <p:ph idx="1"/>
          </p:nvPr>
        </p:nvSpPr>
        <p:spPr>
          <a:xfrm>
            <a:off x="838200" y="1825625"/>
            <a:ext cx="10515600" cy="1048204"/>
          </a:xfrm>
        </p:spPr>
        <p:txBody>
          <a:bodyPr>
            <a:normAutofit fontScale="70000" lnSpcReduction="20000"/>
          </a:bodyPr>
          <a:lstStyle/>
          <a:p>
            <a:r>
              <a:rPr lang="en-US" dirty="0" err="1">
                <a:hlinkClick r:id="rId2"/>
              </a:rPr>
              <a:t>Github</a:t>
            </a:r>
            <a:r>
              <a:rPr lang="en-US" dirty="0">
                <a:hlinkClick r:id="rId2"/>
              </a:rPr>
              <a:t> Repo</a:t>
            </a:r>
            <a:endParaRPr lang="en-US" dirty="0"/>
          </a:p>
          <a:p>
            <a:endParaRPr lang="en-US" dirty="0"/>
          </a:p>
          <a:p>
            <a:pPr marL="0" indent="0">
              <a:buNone/>
            </a:pPr>
            <a:r>
              <a:rPr lang="en-US" b="1" dirty="0"/>
              <a:t>Timeline Table</a:t>
            </a:r>
          </a:p>
          <a:p>
            <a:pPr marL="0" indent="0">
              <a:buNone/>
            </a:pPr>
            <a:endParaRPr lang="en-US" dirty="0"/>
          </a:p>
        </p:txBody>
      </p:sp>
      <p:graphicFrame>
        <p:nvGraphicFramePr>
          <p:cNvPr id="4" name="Table 3">
            <a:extLst>
              <a:ext uri="{FF2B5EF4-FFF2-40B4-BE49-F238E27FC236}">
                <a16:creationId xmlns:a16="http://schemas.microsoft.com/office/drawing/2014/main" id="{D73F9F7C-1D1E-5508-9628-86188581A582}"/>
              </a:ext>
            </a:extLst>
          </p:cNvPr>
          <p:cNvGraphicFramePr>
            <a:graphicFrameLocks noGrp="1"/>
          </p:cNvGraphicFramePr>
          <p:nvPr>
            <p:extLst>
              <p:ext uri="{D42A27DB-BD31-4B8C-83A1-F6EECF244321}">
                <p14:modId xmlns:p14="http://schemas.microsoft.com/office/powerpoint/2010/main" val="2263172964"/>
              </p:ext>
            </p:extLst>
          </p:nvPr>
        </p:nvGraphicFramePr>
        <p:xfrm>
          <a:off x="838200" y="2887825"/>
          <a:ext cx="8127999" cy="328530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80644352"/>
                    </a:ext>
                  </a:extLst>
                </a:gridCol>
                <a:gridCol w="2709333">
                  <a:extLst>
                    <a:ext uri="{9D8B030D-6E8A-4147-A177-3AD203B41FA5}">
                      <a16:colId xmlns:a16="http://schemas.microsoft.com/office/drawing/2014/main" val="576355836"/>
                    </a:ext>
                  </a:extLst>
                </a:gridCol>
                <a:gridCol w="2709333">
                  <a:extLst>
                    <a:ext uri="{9D8B030D-6E8A-4147-A177-3AD203B41FA5}">
                      <a16:colId xmlns:a16="http://schemas.microsoft.com/office/drawing/2014/main" val="1031846771"/>
                    </a:ext>
                  </a:extLst>
                </a:gridCol>
              </a:tblGrid>
              <a:tr h="370840">
                <a:tc>
                  <a:txBody>
                    <a:bodyPr/>
                    <a:lstStyle/>
                    <a:p>
                      <a:r>
                        <a:rPr lang="en-US" dirty="0"/>
                        <a:t>Milestone</a:t>
                      </a:r>
                    </a:p>
                  </a:txBody>
                  <a:tcPr/>
                </a:tc>
                <a:tc>
                  <a:txBody>
                    <a:bodyPr/>
                    <a:lstStyle/>
                    <a:p>
                      <a:r>
                        <a:rPr lang="en-US" dirty="0"/>
                        <a:t>Start</a:t>
                      </a:r>
                    </a:p>
                  </a:txBody>
                  <a:tcPr/>
                </a:tc>
                <a:tc>
                  <a:txBody>
                    <a:bodyPr/>
                    <a:lstStyle/>
                    <a:p>
                      <a:r>
                        <a:rPr lang="en-US" dirty="0"/>
                        <a:t>End</a:t>
                      </a:r>
                    </a:p>
                  </a:txBody>
                  <a:tcPr/>
                </a:tc>
                <a:extLst>
                  <a:ext uri="{0D108BD9-81ED-4DB2-BD59-A6C34878D82A}">
                    <a16:rowId xmlns:a16="http://schemas.microsoft.com/office/drawing/2014/main" val="1187179608"/>
                  </a:ext>
                </a:extLst>
              </a:tr>
              <a:tr h="370840">
                <a:tc>
                  <a:txBody>
                    <a:bodyPr/>
                    <a:lstStyle/>
                    <a:p>
                      <a:r>
                        <a:rPr lang="en-US" dirty="0"/>
                        <a:t>Basic </a:t>
                      </a:r>
                      <a:r>
                        <a:rPr lang="en-US" dirty="0" err="1"/>
                        <a:t>Lexer</a:t>
                      </a:r>
                      <a:endParaRPr lang="en-US" dirty="0"/>
                    </a:p>
                  </a:txBody>
                  <a:tcPr/>
                </a:tc>
                <a:tc>
                  <a:txBody>
                    <a:bodyPr/>
                    <a:lstStyle/>
                    <a:p>
                      <a:r>
                        <a:rPr lang="en-US" dirty="0"/>
                        <a:t>9/1/24</a:t>
                      </a:r>
                    </a:p>
                  </a:txBody>
                  <a:tcPr/>
                </a:tc>
                <a:tc>
                  <a:txBody>
                    <a:bodyPr/>
                    <a:lstStyle/>
                    <a:p>
                      <a:r>
                        <a:rPr lang="en-US" dirty="0"/>
                        <a:t>Completed</a:t>
                      </a:r>
                    </a:p>
                  </a:txBody>
                  <a:tcPr/>
                </a:tc>
                <a:extLst>
                  <a:ext uri="{0D108BD9-81ED-4DB2-BD59-A6C34878D82A}">
                    <a16:rowId xmlns:a16="http://schemas.microsoft.com/office/drawing/2014/main" val="309513204"/>
                  </a:ext>
                </a:extLst>
              </a:tr>
              <a:tr h="370840">
                <a:tc>
                  <a:txBody>
                    <a:bodyPr/>
                    <a:lstStyle/>
                    <a:p>
                      <a:r>
                        <a:rPr lang="en-US" dirty="0"/>
                        <a:t>Basic Parser</a:t>
                      </a:r>
                    </a:p>
                  </a:txBody>
                  <a:tcPr/>
                </a:tc>
                <a:tc>
                  <a:txBody>
                    <a:bodyPr/>
                    <a:lstStyle/>
                    <a:p>
                      <a:r>
                        <a:rPr lang="en-US" dirty="0"/>
                        <a:t>9/1/24</a:t>
                      </a:r>
                    </a:p>
                  </a:txBody>
                  <a:tcPr/>
                </a:tc>
                <a:tc>
                  <a:txBody>
                    <a:bodyPr/>
                    <a:lstStyle/>
                    <a:p>
                      <a:r>
                        <a:rPr lang="en-US" dirty="0"/>
                        <a:t>Completed</a:t>
                      </a:r>
                    </a:p>
                  </a:txBody>
                  <a:tcPr/>
                </a:tc>
                <a:extLst>
                  <a:ext uri="{0D108BD9-81ED-4DB2-BD59-A6C34878D82A}">
                    <a16:rowId xmlns:a16="http://schemas.microsoft.com/office/drawing/2014/main" val="3270081568"/>
                  </a:ext>
                </a:extLst>
              </a:tr>
              <a:tr h="370840">
                <a:tc>
                  <a:txBody>
                    <a:bodyPr/>
                    <a:lstStyle/>
                    <a:p>
                      <a:r>
                        <a:rPr lang="en-US" dirty="0"/>
                        <a:t>Basic Interpreter</a:t>
                      </a:r>
                    </a:p>
                  </a:txBody>
                  <a:tcPr/>
                </a:tc>
                <a:tc>
                  <a:txBody>
                    <a:bodyPr/>
                    <a:lstStyle/>
                    <a:p>
                      <a:r>
                        <a:rPr lang="en-US" dirty="0"/>
                        <a:t>9/1/24</a:t>
                      </a:r>
                    </a:p>
                  </a:txBody>
                  <a:tcPr/>
                </a:tc>
                <a:tc>
                  <a:txBody>
                    <a:bodyPr/>
                    <a:lstStyle/>
                    <a:p>
                      <a:r>
                        <a:rPr lang="en-US" dirty="0"/>
                        <a:t>Completed</a:t>
                      </a:r>
                    </a:p>
                  </a:txBody>
                  <a:tcPr/>
                </a:tc>
                <a:extLst>
                  <a:ext uri="{0D108BD9-81ED-4DB2-BD59-A6C34878D82A}">
                    <a16:rowId xmlns:a16="http://schemas.microsoft.com/office/drawing/2014/main" val="373634527"/>
                  </a:ext>
                </a:extLst>
              </a:tr>
              <a:tr h="370840">
                <a:tc>
                  <a:txBody>
                    <a:bodyPr/>
                    <a:lstStyle/>
                    <a:p>
                      <a:r>
                        <a:rPr lang="en-US" dirty="0"/>
                        <a:t>Basic Generator (WIP)</a:t>
                      </a:r>
                    </a:p>
                  </a:txBody>
                  <a:tcPr/>
                </a:tc>
                <a:tc>
                  <a:txBody>
                    <a:bodyPr/>
                    <a:lstStyle/>
                    <a:p>
                      <a:r>
                        <a:rPr lang="en-US" dirty="0"/>
                        <a:t>10/7/24</a:t>
                      </a:r>
                    </a:p>
                  </a:txBody>
                  <a:tcPr/>
                </a:tc>
                <a:tc>
                  <a:txBody>
                    <a:bodyPr/>
                    <a:lstStyle/>
                    <a:p>
                      <a:r>
                        <a:rPr lang="en-US" dirty="0"/>
                        <a:t>12/1/24</a:t>
                      </a:r>
                    </a:p>
                  </a:txBody>
                  <a:tcPr/>
                </a:tc>
                <a:extLst>
                  <a:ext uri="{0D108BD9-81ED-4DB2-BD59-A6C34878D82A}">
                    <a16:rowId xmlns:a16="http://schemas.microsoft.com/office/drawing/2014/main" val="1675329178"/>
                  </a:ext>
                </a:extLst>
              </a:tr>
              <a:tr h="370840">
                <a:tc>
                  <a:txBody>
                    <a:bodyPr/>
                    <a:lstStyle/>
                    <a:p>
                      <a:r>
                        <a:rPr lang="en-US" dirty="0"/>
                        <a:t>Function Support Added</a:t>
                      </a:r>
                    </a:p>
                  </a:txBody>
                  <a:tcPr/>
                </a:tc>
                <a:tc>
                  <a:txBody>
                    <a:bodyPr/>
                    <a:lstStyle/>
                    <a:p>
                      <a:r>
                        <a:rPr lang="en-US" dirty="0"/>
                        <a:t>12/1/24</a:t>
                      </a:r>
                    </a:p>
                  </a:txBody>
                  <a:tcPr/>
                </a:tc>
                <a:tc>
                  <a:txBody>
                    <a:bodyPr/>
                    <a:lstStyle/>
                    <a:p>
                      <a:r>
                        <a:rPr lang="en-US" dirty="0"/>
                        <a:t>1/1/24</a:t>
                      </a:r>
                    </a:p>
                  </a:txBody>
                  <a:tcPr/>
                </a:tc>
                <a:extLst>
                  <a:ext uri="{0D108BD9-81ED-4DB2-BD59-A6C34878D82A}">
                    <a16:rowId xmlns:a16="http://schemas.microsoft.com/office/drawing/2014/main" val="2508642478"/>
                  </a:ext>
                </a:extLst>
              </a:tr>
              <a:tr h="420189">
                <a:tc>
                  <a:txBody>
                    <a:bodyPr/>
                    <a:lstStyle/>
                    <a:p>
                      <a:r>
                        <a:rPr lang="en-US" dirty="0"/>
                        <a:t>Class Support Added</a:t>
                      </a:r>
                    </a:p>
                  </a:txBody>
                  <a:tcPr/>
                </a:tc>
                <a:tc>
                  <a:txBody>
                    <a:bodyPr/>
                    <a:lstStyle/>
                    <a:p>
                      <a:r>
                        <a:rPr lang="en-US" dirty="0"/>
                        <a:t>1/1/24</a:t>
                      </a:r>
                    </a:p>
                  </a:txBody>
                  <a:tcPr/>
                </a:tc>
                <a:tc>
                  <a:txBody>
                    <a:bodyPr/>
                    <a:lstStyle/>
                    <a:p>
                      <a:r>
                        <a:rPr lang="en-US" dirty="0"/>
                        <a:t>2/1/24</a:t>
                      </a:r>
                    </a:p>
                  </a:txBody>
                  <a:tcPr/>
                </a:tc>
                <a:extLst>
                  <a:ext uri="{0D108BD9-81ED-4DB2-BD59-A6C34878D82A}">
                    <a16:rowId xmlns:a16="http://schemas.microsoft.com/office/drawing/2014/main" val="3552568839"/>
                  </a:ext>
                </a:extLst>
              </a:tr>
              <a:tr h="370840">
                <a:tc>
                  <a:txBody>
                    <a:bodyPr/>
                    <a:lstStyle/>
                    <a:p>
                      <a:r>
                        <a:rPr lang="en-US" dirty="0"/>
                        <a:t>Whole Project QA and Refactor</a:t>
                      </a:r>
                    </a:p>
                  </a:txBody>
                  <a:tcPr/>
                </a:tc>
                <a:tc>
                  <a:txBody>
                    <a:bodyPr/>
                    <a:lstStyle/>
                    <a:p>
                      <a:r>
                        <a:rPr lang="en-US" dirty="0"/>
                        <a:t>2/1/24</a:t>
                      </a:r>
                    </a:p>
                  </a:txBody>
                  <a:tcPr/>
                </a:tc>
                <a:tc>
                  <a:txBody>
                    <a:bodyPr/>
                    <a:lstStyle/>
                    <a:p>
                      <a:r>
                        <a:rPr lang="en-US" dirty="0"/>
                        <a:t>4/1/24</a:t>
                      </a:r>
                    </a:p>
                  </a:txBody>
                  <a:tcPr/>
                </a:tc>
                <a:extLst>
                  <a:ext uri="{0D108BD9-81ED-4DB2-BD59-A6C34878D82A}">
                    <a16:rowId xmlns:a16="http://schemas.microsoft.com/office/drawing/2014/main" val="2966782364"/>
                  </a:ext>
                </a:extLst>
              </a:tr>
            </a:tbl>
          </a:graphicData>
        </a:graphic>
      </p:graphicFrame>
      <p:sp>
        <p:nvSpPr>
          <p:cNvPr id="5" name="TextBox 4">
            <a:extLst>
              <a:ext uri="{FF2B5EF4-FFF2-40B4-BE49-F238E27FC236}">
                <a16:creationId xmlns:a16="http://schemas.microsoft.com/office/drawing/2014/main" id="{A0461EEC-02A3-3AE4-C4DF-4A249B8BF502}"/>
              </a:ext>
            </a:extLst>
          </p:cNvPr>
          <p:cNvSpPr txBox="1"/>
          <p:nvPr/>
        </p:nvSpPr>
        <p:spPr>
          <a:xfrm>
            <a:off x="9822025" y="365125"/>
            <a:ext cx="2369975" cy="3416320"/>
          </a:xfrm>
          <a:prstGeom prst="rect">
            <a:avLst/>
          </a:prstGeom>
          <a:noFill/>
        </p:spPr>
        <p:txBody>
          <a:bodyPr wrap="square" rtlCol="0">
            <a:spAutoFit/>
          </a:bodyPr>
          <a:lstStyle/>
          <a:p>
            <a:r>
              <a:rPr lang="en-US" dirty="0"/>
              <a:t>We are currently working on implementing the generator. We are caught up at the moment. After completion of the generator, we will work on adding more language features (functions and classes).</a:t>
            </a:r>
          </a:p>
        </p:txBody>
      </p:sp>
      <p:cxnSp>
        <p:nvCxnSpPr>
          <p:cNvPr id="7" name="Straight Arrow Connector 6">
            <a:extLst>
              <a:ext uri="{FF2B5EF4-FFF2-40B4-BE49-F238E27FC236}">
                <a16:creationId xmlns:a16="http://schemas.microsoft.com/office/drawing/2014/main" id="{E2C802A7-0F62-F35B-73CE-0CF4B29F4320}"/>
              </a:ext>
            </a:extLst>
          </p:cNvPr>
          <p:cNvCxnSpPr/>
          <p:nvPr/>
        </p:nvCxnSpPr>
        <p:spPr>
          <a:xfrm flipH="1">
            <a:off x="8024327" y="684866"/>
            <a:ext cx="1670179" cy="39337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2336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BD0C1-0CEB-DD1B-81BF-1FCE25E0441C}"/>
              </a:ext>
            </a:extLst>
          </p:cNvPr>
          <p:cNvSpPr>
            <a:spLocks noGrp="1"/>
          </p:cNvSpPr>
          <p:nvPr>
            <p:ph type="title"/>
          </p:nvPr>
        </p:nvSpPr>
        <p:spPr/>
        <p:txBody>
          <a:bodyPr/>
          <a:lstStyle/>
          <a:p>
            <a:r>
              <a:rPr lang="en-US" dirty="0"/>
              <a:t>Expected Accomplishments by End of Term</a:t>
            </a:r>
          </a:p>
        </p:txBody>
      </p:sp>
      <p:sp>
        <p:nvSpPr>
          <p:cNvPr id="3" name="Content Placeholder 2">
            <a:extLst>
              <a:ext uri="{FF2B5EF4-FFF2-40B4-BE49-F238E27FC236}">
                <a16:creationId xmlns:a16="http://schemas.microsoft.com/office/drawing/2014/main" id="{3FAA7388-9D34-2A27-C59F-3373442FAC1E}"/>
              </a:ext>
            </a:extLst>
          </p:cNvPr>
          <p:cNvSpPr>
            <a:spLocks noGrp="1"/>
          </p:cNvSpPr>
          <p:nvPr>
            <p:ph idx="1"/>
          </p:nvPr>
        </p:nvSpPr>
        <p:spPr/>
        <p:txBody>
          <a:bodyPr/>
          <a:lstStyle/>
          <a:p>
            <a:r>
              <a:rPr lang="en-US" dirty="0"/>
              <a:t>By the end of the term, we hope to have the generator working and generating code that contains mathematical expressions, and variable declarations/initializations</a:t>
            </a:r>
          </a:p>
          <a:p>
            <a:endParaRPr lang="en-US" dirty="0"/>
          </a:p>
          <a:p>
            <a:r>
              <a:rPr lang="en-US" dirty="0"/>
              <a:t>This will be a fully working compiler, but will not contain all intended language features (functions and classes). These features will be designed and implemented in the following stages of development</a:t>
            </a:r>
          </a:p>
        </p:txBody>
      </p:sp>
    </p:spTree>
    <p:extLst>
      <p:ext uri="{BB962C8B-B14F-4D97-AF65-F5344CB8AC3E}">
        <p14:creationId xmlns:p14="http://schemas.microsoft.com/office/powerpoint/2010/main" val="3081988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47504-AB44-FD28-4BC5-114DD4F79B6D}"/>
              </a:ext>
            </a:extLst>
          </p:cNvPr>
          <p:cNvSpPr>
            <a:spLocks noGrp="1"/>
          </p:cNvSpPr>
          <p:nvPr>
            <p:ph type="title"/>
          </p:nvPr>
        </p:nvSpPr>
        <p:spPr/>
        <p:txBody>
          <a:bodyPr/>
          <a:lstStyle/>
          <a:p>
            <a:r>
              <a:rPr lang="en-US" dirty="0"/>
              <a:t>Division of Work	</a:t>
            </a:r>
          </a:p>
        </p:txBody>
      </p:sp>
      <p:sp>
        <p:nvSpPr>
          <p:cNvPr id="3" name="Content Placeholder 2">
            <a:extLst>
              <a:ext uri="{FF2B5EF4-FFF2-40B4-BE49-F238E27FC236}">
                <a16:creationId xmlns:a16="http://schemas.microsoft.com/office/drawing/2014/main" id="{C768BA97-8C15-4090-C0D6-AC819CD98E7C}"/>
              </a:ext>
            </a:extLst>
          </p:cNvPr>
          <p:cNvSpPr>
            <a:spLocks noGrp="1"/>
          </p:cNvSpPr>
          <p:nvPr>
            <p:ph idx="1"/>
          </p:nvPr>
        </p:nvSpPr>
        <p:spPr/>
        <p:txBody>
          <a:bodyPr/>
          <a:lstStyle/>
          <a:p>
            <a:r>
              <a:rPr lang="en-US" dirty="0"/>
              <a:t>I (Dillon Troxell), am currently the only member of my team. All work will be design, implemented, and tested by me.</a:t>
            </a:r>
          </a:p>
        </p:txBody>
      </p:sp>
    </p:spTree>
    <p:extLst>
      <p:ext uri="{BB962C8B-B14F-4D97-AF65-F5344CB8AC3E}">
        <p14:creationId xmlns:p14="http://schemas.microsoft.com/office/powerpoint/2010/main" val="3377864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0ACD-9F87-241E-635A-FB5E9DEFC83D}"/>
              </a:ext>
            </a:extLst>
          </p:cNvPr>
          <p:cNvSpPr>
            <a:spLocks noGrp="1"/>
          </p:cNvSpPr>
          <p:nvPr>
            <p:ph type="title"/>
          </p:nvPr>
        </p:nvSpPr>
        <p:spPr/>
        <p:txBody>
          <a:bodyPr/>
          <a:lstStyle/>
          <a:p>
            <a:r>
              <a:rPr lang="en-US" dirty="0"/>
              <a:t>Expected Demo at Expo</a:t>
            </a:r>
          </a:p>
        </p:txBody>
      </p:sp>
      <p:sp>
        <p:nvSpPr>
          <p:cNvPr id="3" name="Content Placeholder 2">
            <a:extLst>
              <a:ext uri="{FF2B5EF4-FFF2-40B4-BE49-F238E27FC236}">
                <a16:creationId xmlns:a16="http://schemas.microsoft.com/office/drawing/2014/main" id="{75566068-D8C3-EB46-4B6D-99306E84EFE2}"/>
              </a:ext>
            </a:extLst>
          </p:cNvPr>
          <p:cNvSpPr>
            <a:spLocks noGrp="1"/>
          </p:cNvSpPr>
          <p:nvPr>
            <p:ph idx="1"/>
          </p:nvPr>
        </p:nvSpPr>
        <p:spPr/>
        <p:txBody>
          <a:bodyPr/>
          <a:lstStyle/>
          <a:p>
            <a:r>
              <a:rPr lang="en-US" dirty="0"/>
              <a:t>By the time expo comes around, we hope to have a working compiler that we can demonstrate. We will write a program that abides by our language’s syntax, and have the compiler produce assembly code that we can then run and demonstrate the output.</a:t>
            </a:r>
          </a:p>
        </p:txBody>
      </p:sp>
    </p:spTree>
    <p:extLst>
      <p:ext uri="{BB962C8B-B14F-4D97-AF65-F5344CB8AC3E}">
        <p14:creationId xmlns:p14="http://schemas.microsoft.com/office/powerpoint/2010/main" val="3226794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877</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Senior Compiler</vt:lpstr>
      <vt:lpstr>Group Info</vt:lpstr>
      <vt:lpstr>Purpose and Goal Statement</vt:lpstr>
      <vt:lpstr>Project Abstraction</vt:lpstr>
      <vt:lpstr>User Stories</vt:lpstr>
      <vt:lpstr>Design Diagrams (1/2)</vt:lpstr>
      <vt:lpstr>Design Diagrams (2/2)</vt:lpstr>
      <vt:lpstr>Major Project Constraints</vt:lpstr>
      <vt:lpstr>Project Progress</vt:lpstr>
      <vt:lpstr>Expected Accomplishments by End of Term</vt:lpstr>
      <vt:lpstr>Division of Work </vt:lpstr>
      <vt:lpstr>Expected Demo at Expo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Troxell, Dillon (troxeldj)</dc:creator>
  <cp:lastModifiedBy>Troxell, Dillon (troxeldj)</cp:lastModifiedBy>
  <cp:revision>1</cp:revision>
  <dcterms:created xsi:type="dcterms:W3CDTF">2024-10-27T21:04:05Z</dcterms:created>
  <dcterms:modified xsi:type="dcterms:W3CDTF">2024-10-28T00:12:22Z</dcterms:modified>
</cp:coreProperties>
</file>